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76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27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27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108447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ZENSAR ENTERPRISE AI CONTROL PLANE REGISTRY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requirements to discover, govern, measure and scale every AI agent across Zensar — including ZenseAI and every third-party AI platform.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56760" y="5321808"/>
            <a:ext cx="313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56760" y="5596128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assets across Zensar, including ZenseAI &amp; third-party platforms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61960" y="5321808"/>
            <a:ext cx="313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/ DATE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61960" y="5596128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|  11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pro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943600" cy="3977640"/>
          </a:xfrm>
          <a:prstGeom prst="roundRect">
            <a:avLst>
              <a:gd name="adj" fmla="val 1839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8013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Growing Without Central Visibility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5394960" cy="3154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and copilots are being built across Zensar by many teams, on many platforms, at the same time.</a:t>
            </a:r>
            <a:endParaRPr lang="en-US" sz="1350" dirty="0"/>
          </a:p>
          <a:p>
            <a:pPr marL="228600" indent="-228600" algn="l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place to see what exists, who owns it, what value it delivers, or what risk it carries.</a:t>
            </a:r>
            <a:endParaRPr lang="en-US" sz="1350" dirty="0"/>
          </a:p>
          <a:p>
            <a:pPr marL="228600" indent="-228600" algn="l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agents are frequently duplicates of ones that already exist elsewhere in the organisation.</a:t>
            </a:r>
            <a:endParaRPr lang="en-US" sz="1350" dirty="0"/>
          </a:p>
          <a:p>
            <a:pPr marL="228600" indent="-228600" algn="l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cannot currently answer: how many AI agents exist, what do they deliver, and what breaks if one fails?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720840" y="1600200"/>
            <a:ext cx="4937760" cy="3977640"/>
          </a:xfrm>
          <a:prstGeom prst="roundRect">
            <a:avLst>
              <a:gd name="adj" fmla="val 1839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95160" y="1801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Being Created Across Many Platforms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2240280"/>
            <a:ext cx="4389120" cy="3154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ZenseAI — Zensar's own AI platform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 &amp; M365 Copilot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&amp; Azure OpenAI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 ·  Google Vertex AI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extensions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ServiceNow, Salesforce &amp; other SaaS AI</a:t>
            </a:r>
            <a:endParaRPr lang="en-US" sz="13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&amp; client-specific agents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58064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AI sprawl, duplicated build effort, inconsistent governance, unclear ROI, uncontrolled cost, and unmanaged risk.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objec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Core Objectives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3F7F5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</a:t>
            </a: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single enterprise-wide AI control plane that lets Zensar discover, govern, measure, secure, reuse and scale every AI asset — across every platform, including ZenseAI.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2622042" cy="1714500"/>
          </a:xfrm>
          <a:prstGeom prst="roundRect">
            <a:avLst>
              <a:gd name="adj" fmla="val 4267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227832"/>
            <a:ext cx="22562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Visibility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3630168"/>
            <a:ext cx="22562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 every agent, copilot, model &amp; workflow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71850" y="2606040"/>
            <a:ext cx="2622042" cy="1714500"/>
          </a:xfrm>
          <a:prstGeom prst="roundRect">
            <a:avLst>
              <a:gd name="adj" fmla="val 4267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54730" y="2788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5473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54730" y="3227832"/>
            <a:ext cx="22562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by Design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554730" y="3630168"/>
            <a:ext cx="22562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security, privacy &amp; Responsible AI controls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95060" y="2606040"/>
            <a:ext cx="2622042" cy="1714500"/>
          </a:xfrm>
          <a:prstGeom prst="roundRect">
            <a:avLst>
              <a:gd name="adj" fmla="val 4267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377940" y="2788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779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77940" y="3227832"/>
            <a:ext cx="22562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ROI Realisation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77940" y="3630168"/>
            <a:ext cx="22562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vs. actual value tracked on every agent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018270" y="2606040"/>
            <a:ext cx="2622042" cy="1714500"/>
          </a:xfrm>
          <a:prstGeom prst="roundRect">
            <a:avLst>
              <a:gd name="adj" fmla="val 4267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201150" y="2788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20115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201150" y="3227832"/>
            <a:ext cx="22562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Transparency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201150" y="3630168"/>
            <a:ext cx="22562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breaks when something fails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4549140"/>
            <a:ext cx="2622042" cy="1714500"/>
          </a:xfrm>
          <a:prstGeom prst="roundRect">
            <a:avLst>
              <a:gd name="adj" fmla="val 4267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31520" y="47320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31520" y="4732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31520" y="5170932"/>
            <a:ext cx="22562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31520" y="5573268"/>
            <a:ext cx="22562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of platform, token &amp; infra spend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371850" y="4549140"/>
            <a:ext cx="2622042" cy="1714500"/>
          </a:xfrm>
          <a:prstGeom prst="roundRect">
            <a:avLst>
              <a:gd name="adj" fmla="val 4267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554730" y="47320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554730" y="4732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554730" y="5170932"/>
            <a:ext cx="22562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3554730" y="5573268"/>
            <a:ext cx="22562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high-risk &amp; unapproved agents early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195060" y="4549140"/>
            <a:ext cx="2622042" cy="1714500"/>
          </a:xfrm>
          <a:prstGeom prst="roundRect">
            <a:avLst>
              <a:gd name="adj" fmla="val 4267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377940" y="47320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377940" y="4732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377940" y="5170932"/>
            <a:ext cx="22562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at Scale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377940" y="5573268"/>
            <a:ext cx="22562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capabilities available enterprise-wide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018270" y="4549140"/>
            <a:ext cx="2622042" cy="1714500"/>
          </a:xfrm>
          <a:prstGeom prst="roundRect">
            <a:avLst>
              <a:gd name="adj" fmla="val 4267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9201150" y="47320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9201150" y="47320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201150" y="5170932"/>
            <a:ext cx="22562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Oversight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9201150" y="5573268"/>
            <a:ext cx="22562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view of portfolio, value &amp; risk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Track Every Agent, End to End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943600" cy="3977640"/>
          </a:xfrm>
          <a:prstGeom prst="roundRect">
            <a:avLst>
              <a:gd name="adj" fmla="val 1839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8013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Registry for Every AI Agent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2219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Enterprise AI Control Plane Registry — the authoritative system of record for every AI agent, model, workflow and AI-enabled application, wherever it is built.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5394960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every agent with a unique ID, named owner and business purpose</a:t>
            </a:r>
            <a:endParaRPr lang="en-US" sz="125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expected vs. actual value and cost-to-value ratio for every agent, giving a running ROI picture</a:t>
            </a:r>
            <a:endParaRPr lang="en-US" sz="125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discovers agents built on ZenseAI and any third-party AI platform</a:t>
            </a:r>
            <a:endParaRPr lang="en-US" sz="125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duplicate, orphaned or unregistered ("shadow AI") agents before they scale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20840" y="1600200"/>
            <a:ext cx="4937760" cy="3977640"/>
          </a:xfrm>
          <a:prstGeom prst="roundRect">
            <a:avLst>
              <a:gd name="adj" fmla="val 1839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95160" y="1801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95160" y="2240280"/>
            <a:ext cx="4389120" cy="3154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2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— authoritative agent inventory</a:t>
            </a:r>
            <a:endParaRPr lang="en-US" sz="123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2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— automated, cross-platform</a:t>
            </a:r>
            <a:endParaRPr lang="en-US" sz="123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2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ROI — expected vs. actual, per agent</a:t>
            </a:r>
            <a:endParaRPr lang="en-US" sz="123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2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 — approvals &amp; controls</a:t>
            </a:r>
            <a:endParaRPr lang="en-US" sz="123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2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— impact &amp; blast radius</a:t>
            </a:r>
            <a:endParaRPr lang="en-US" sz="123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2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 — spend by asset/BU/client</a:t>
            </a:r>
            <a:endParaRPr lang="en-US" sz="123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2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 — role-based views</a:t>
            </a:r>
            <a:endParaRPr lang="en-US" sz="123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2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Reuse — certified agent catalogue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58064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platform-agnostic discovery — every agent, on every platform, held to one Zensar governance standard.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Definition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943600" cy="3794760"/>
          </a:xfrm>
          <a:prstGeom prst="roundRect">
            <a:avLst>
              <a:gd name="adj" fmla="val 1928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8013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AI Asset Types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5394960" cy="2971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autonomous agents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&amp; virtual assistants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&amp; AI applications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solutions &amp; knowledge assistants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APIs &amp; AI-enabled automations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foundation model integrations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&amp; tool connectors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&amp; internal productivity AI tools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20840" y="1600200"/>
            <a:ext cx="4937760" cy="3794760"/>
          </a:xfrm>
          <a:prstGeom prst="roundRect">
            <a:avLst>
              <a:gd name="adj" fmla="val 1928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95160" y="1801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Covered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2240280"/>
            <a:ext cx="4389120" cy="2971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ZenseAI — Zensar's own platform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 &amp; M365 Copilot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&amp; Azure OpenAI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 ·  Google Vertex AI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&amp; Salesforce AI  ·  UiPath</a:t>
            </a:r>
            <a:endParaRPr lang="en-US" sz="1300" dirty="0"/>
          </a:p>
          <a:p>
            <a:pPr marL="228600" indent="-228600" algn="l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open-source &amp; client-specific environments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3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56235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must be registered before production, regardless of platform, owner or business unit. MVP excludes full automated discovery on day one across every platform, predictive risk scoring and a full marketplace.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&amp; ROI Tracking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4846320" cy="3977640"/>
          </a:xfrm>
          <a:prstGeom prst="roundRect">
            <a:avLst>
              <a:gd name="adj" fmla="val 1839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Must Define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4297680" cy="3154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and value owner</a:t>
            </a:r>
            <a:endParaRPr lang="en-US" sz="13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metric and current metric</a:t>
            </a:r>
            <a:endParaRPr lang="en-US" sz="13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(realised) value</a:t>
            </a:r>
            <a:endParaRPr lang="en-US" sz="13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methodology</a:t>
            </a:r>
            <a:endParaRPr lang="en-US" sz="13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source</a:t>
            </a:r>
            <a:endParaRPr lang="en-US" sz="1300" dirty="0"/>
          </a:p>
          <a:p>
            <a:pPr marL="228600" indent="-228600" algn="l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 review frequency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600200"/>
          <a:ext cx="6035040" cy="3977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saved, effort reduced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Timesheets, workflow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revenue, win-rate lift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CRM, finance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avoided, run-cost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Finance, cloud 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 / 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CSAT, NPS, adoption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of customer, telemetry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reusing the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Registry, marketplace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2960" y="58064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measure value directionally where exact ROI attribution is not possible — and track a cost-to-value ratio for every agent.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Governance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4846320" cy="3977640"/>
          </a:xfrm>
          <a:prstGeom prst="roundRect">
            <a:avLst>
              <a:gd name="adj" fmla="val 1839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 Assessed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4297680" cy="3154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 algn="l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</a:t>
            </a:r>
            <a:endParaRPr lang="en-US" sz="1300" dirty="0"/>
          </a:p>
          <a:p>
            <a:pPr marL="228600" indent="-228600" algn="l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</a:t>
            </a:r>
            <a:endParaRPr lang="en-US" sz="1300" dirty="0"/>
          </a:p>
          <a:p>
            <a:pPr marL="228600" indent="-228600" algn="l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risk (bias, hallucination, safety)</a:t>
            </a:r>
            <a:endParaRPr lang="en-US" sz="1300" dirty="0"/>
          </a:p>
          <a:p>
            <a:pPr marL="228600" indent="-228600" algn="l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300" dirty="0"/>
          </a:p>
          <a:p>
            <a:pPr marL="228600" indent="-228600" algn="l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1300" dirty="0"/>
          </a:p>
          <a:p>
            <a:pPr marL="228600" indent="-228600" algn="l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 (cost escalation)</a:t>
            </a:r>
            <a:endParaRPr lang="en-US" sz="1300" dirty="0"/>
          </a:p>
          <a:p>
            <a:pPr marL="228600" indent="-228600" algn="l"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third-party risk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600200"/>
          <a:ext cx="6035040" cy="3977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user-facing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Readiness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2960" y="58064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AI asset operates without a named owner, risk rating, value case, and dependency map.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depend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Management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760720" cy="3977640"/>
          </a:xfrm>
          <a:prstGeom prst="roundRect">
            <a:avLst>
              <a:gd name="adj" fmla="val 1839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429000" y="3451860"/>
            <a:ext cx="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805940" y="169164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05940" y="16916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80460" y="160020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80460" y="1600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KB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77740" y="292608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77740" y="29260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MCP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80460" y="434340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80460" y="43434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577340" y="438912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577340" y="4389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Process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0" y="276606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0" y="27660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37960" y="160020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EEF2FB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12280" y="1801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Dependency Graph Must Do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12280" y="2240280"/>
            <a:ext cx="4572000" cy="3154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&amp; downstream dependency mapping</a:t>
            </a:r>
            <a:endParaRPr lang="en-US" sz="128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and model-to-agent relationships</a:t>
            </a:r>
            <a:endParaRPr lang="en-US" sz="128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Blast-radius analysis for any dependency</a:t>
            </a:r>
            <a:endParaRPr lang="en-US" sz="128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simulation before it happens in production</a:t>
            </a:r>
            <a:endParaRPr lang="en-US" sz="128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Single-point-of-failure reporting</a:t>
            </a:r>
            <a:endParaRPr lang="en-US" sz="128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dependency dashboard</a:t>
            </a:r>
            <a:endParaRPr lang="en-US" sz="1280" dirty="0"/>
          </a:p>
        </p:txBody>
      </p:sp>
      <p:sp>
        <p:nvSpPr>
          <p:cNvPr id="26" name="Shape 23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" y="58064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if this dependency fails, which agents, users, clients and business processes are impacted?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6437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 &amp; Roadmap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01468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26014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&gt;95%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asset coverage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78708" y="1600200"/>
            <a:ext cx="2601468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378708" y="1737360"/>
            <a:ext cx="26014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515868" y="2468880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assets registered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08776" y="1600200"/>
            <a:ext cx="2601468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08776" y="1737360"/>
            <a:ext cx="26014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345936" y="2468880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detection rate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38844" y="1600200"/>
            <a:ext cx="2601468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038844" y="1737360"/>
            <a:ext cx="26014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176004" y="2468880"/>
            <a:ext cx="2327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ZenseAI agents registered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14400" y="4480560"/>
            <a:ext cx="1033272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62940" y="4229100"/>
            <a:ext cx="502920" cy="502920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2940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Registry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729484" y="4229100"/>
            <a:ext cx="502920" cy="502920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729484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112264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96028" y="4229100"/>
            <a:ext cx="502920" cy="502920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96028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178808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Integration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(ZenseAI first)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862572" y="4229100"/>
            <a:ext cx="502920" cy="502920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862572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245352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Cost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929116" y="4229100"/>
            <a:ext cx="502920" cy="502920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929116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311896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0995660" y="4229100"/>
            <a:ext cx="502920" cy="502920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0995660" y="4229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378440" y="4800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Scale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3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2960" y="58064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focuses on Phases 1–2: a usable registry foundation with governance and risk scoring in place first.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5FF4B15596DB4FAA2CA1992D9C9B28" ma:contentTypeVersion="15" ma:contentTypeDescription="Create a new document." ma:contentTypeScope="" ma:versionID="358e8e810c259a9cad3924efa252d582">
  <xsd:schema xmlns:xsd="http://www.w3.org/2001/XMLSchema" xmlns:xs="http://www.w3.org/2001/XMLSchema" xmlns:p="http://schemas.microsoft.com/office/2006/metadata/properties" xmlns:ns2="3b04388c-f8e1-43f2-87d8-fa76249acc9e" xmlns:ns3="d30c4a78-893c-4ae8-aa6d-ea18a4002be1" targetNamespace="http://schemas.microsoft.com/office/2006/metadata/properties" ma:root="true" ma:fieldsID="bd3e3fcbdcdbb38955b395f98c61ca75" ns2:_="" ns3:_="">
    <xsd:import namespace="3b04388c-f8e1-43f2-87d8-fa76249acc9e"/>
    <xsd:import namespace="d30c4a78-893c-4ae8-aa6d-ea18a4002b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4388c-f8e1-43f2-87d8-fa76249acc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1621337-22a4-47e5-b629-d10b7fcdb8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0c4a78-893c-4ae8-aa6d-ea18a4002be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2edc06-bb93-4acb-b765-740f4f3a0dd2}" ma:internalName="TaxCatchAll" ma:showField="CatchAllData" ma:web="d30c4a78-893c-4ae8-aa6d-ea18a4002b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04388c-f8e1-43f2-87d8-fa76249acc9e">
      <Terms xmlns="http://schemas.microsoft.com/office/infopath/2007/PartnerControls"/>
    </lcf76f155ced4ddcb4097134ff3c332f>
    <TaxCatchAll xmlns="d30c4a78-893c-4ae8-aa6d-ea18a4002be1" xsi:nil="true"/>
  </documentManagement>
</p:properties>
</file>

<file path=customXml/itemProps1.xml><?xml version="1.0" encoding="utf-8"?>
<ds:datastoreItem xmlns:ds="http://schemas.openxmlformats.org/officeDocument/2006/customXml" ds:itemID="{7F950AE5-047D-42FD-9E2E-A22E9764D6CD}"/>
</file>

<file path=customXml/itemProps2.xml><?xml version="1.0" encoding="utf-8"?>
<ds:datastoreItem xmlns:ds="http://schemas.openxmlformats.org/officeDocument/2006/customXml" ds:itemID="{0809AEEF-6C23-448F-B0DF-223671E3D6C5}"/>
</file>

<file path=customXml/itemProps3.xml><?xml version="1.0" encoding="utf-8"?>
<ds:datastoreItem xmlns:ds="http://schemas.openxmlformats.org/officeDocument/2006/customXml" ds:itemID="{70B3D521-A1EC-453A-8A8A-FBD17B75D60D}"/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987</Words>
  <Application>Microsoft Macintosh PowerPoint</Application>
  <PresentationFormat>Widescreen</PresentationFormat>
  <Paragraphs>192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Suresh Devrangadi</cp:lastModifiedBy>
  <cp:revision>2</cp:revision>
  <dcterms:created xsi:type="dcterms:W3CDTF">2026-08-11T10:33:18Z</dcterms:created>
  <dcterms:modified xsi:type="dcterms:W3CDTF">2026-08-11T11:55:08Z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0x010100765FF4B15596DB4FAA2CA1992D9C9B28</vt:lpwstr>
  </property>
</Properties>
</file>